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4F4F5"/>
                </a:solidFill>
              </a:defRPr>
            </a:pPr>
            <a:r>
              <a:t>Customer service is broken on both sides.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7171"/>
                </a:solidFill>
              </a:defRPr>
            </a:pPr>
            <a:r>
              <a:t>The company's side</a:t>
            </a:r>
          </a:p>
          <a:p>
            <a:pPr>
              <a:defRPr sz="1200" b="0">
                <a:solidFill>
                  <a:srgbClr val="F4F4F5"/>
                </a:solidFill>
              </a:defRPr>
            </a:pPr>
          </a:p>
          <a:p>
            <a:pPr>
              <a:defRPr sz="1800" b="0">
                <a:solidFill>
                  <a:srgbClr val="A1A1AA"/>
                </a:solidFill>
              </a:defRPr>
            </a:pPr>
            <a:r>
              <a:t>Phone trees, hold music, AI screening —</a:t>
            </a:r>
          </a:p>
          <a:p>
            <a:pPr>
              <a:defRPr sz="1800" b="0">
                <a:solidFill>
                  <a:srgbClr val="A1A1AA"/>
                </a:solidFill>
              </a:defRPr>
            </a:pPr>
            <a:r>
              <a:t>designed to reduce their cost,</a:t>
            </a:r>
          </a:p>
          <a:p>
            <a:pPr>
              <a:defRPr sz="1800" b="1">
                <a:solidFill>
                  <a:srgbClr val="F4F4F5"/>
                </a:solidFill>
              </a:defRPr>
            </a:pPr>
            <a:r>
              <a:t>not your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7171"/>
                </a:solidFill>
              </a:defRPr>
            </a:pPr>
            <a:r>
              <a:t>Your side</a:t>
            </a:r>
          </a:p>
          <a:p>
            <a:pPr>
              <a:defRPr sz="1200" b="0">
                <a:solidFill>
                  <a:srgbClr val="F4F4F5"/>
                </a:solidFill>
              </a:defRPr>
            </a:pPr>
          </a:p>
          <a:p>
            <a:pPr>
              <a:defRPr sz="1800" b="0">
                <a:solidFill>
                  <a:srgbClr val="A1A1AA"/>
                </a:solidFill>
              </a:defRPr>
            </a:pPr>
            <a:r>
              <a:t>You're stressed. Confirmation number buried</a:t>
            </a:r>
          </a:p>
          <a:p>
            <a:pPr>
              <a:defRPr sz="1800" b="0">
                <a:solidFill>
                  <a:srgbClr val="A1A1AA"/>
                </a:solidFill>
              </a:defRPr>
            </a:pPr>
            <a:r>
              <a:t>in email. Loyalty ID in another app. Credit</a:t>
            </a:r>
          </a:p>
          <a:p>
            <a:pPr>
              <a:defRPr sz="1800" b="0">
                <a:solidFill>
                  <a:srgbClr val="A1A1AA"/>
                </a:solidFill>
              </a:defRPr>
            </a:pPr>
            <a:r>
              <a:t>card in your wallet. When the human finally</a:t>
            </a:r>
          </a:p>
          <a:p>
            <a:pPr>
              <a:defRPr sz="1800" b="0">
                <a:solidFill>
                  <a:srgbClr val="A1A1AA"/>
                </a:solidFill>
              </a:defRPr>
            </a:pPr>
            <a:r>
              <a:t>picks up, you spend 2 minutes fumbling.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</a:defRPr>
            </a:pPr>
            <a:r>
              <a:t>Existing tools skip the hold.  Nobody prepares you for the call.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4F4F5"/>
                </a:solidFill>
              </a:defRPr>
            </a:pPr>
            <a:r>
              <a:t>Black</a:t>
            </a:r>
            <a:r>
              <a:rPr sz="4400" b="1">
                <a:solidFill>
                  <a:srgbClr val="34D399"/>
                </a:solidFill>
              </a:rPr>
              <a:t>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A1A1AA"/>
                </a:solidFill>
              </a:defRPr>
            </a:pPr>
            <a:r>
              <a:t>Gets you to a briefed human in 90 seconds.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1717A"/>
                </a:solidFill>
              </a:defRPr>
            </a:pPr>
            <a:r>
              <a:t>You type: "Asiana broke my suitcase on my flight."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4F4F5"/>
                </a:solidFill>
              </a:defRPr>
            </a:pPr>
            <a:r>
              <a:rPr sz="2000" b="1">
                <a:solidFill>
                  <a:srgbClr val="34D399"/>
                </a:solidFill>
              </a:rPr>
              <a:t>Finds  </a:t>
            </a:r>
            <a:r>
              <a:rPr sz="2000">
                <a:solidFill>
                  <a:srgbClr val="F4F4F5"/>
                </a:solidFill>
              </a:rPr>
              <a:t>your booking, loyalty number, and payment from your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54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4F4F5"/>
                </a:solidFill>
              </a:defRPr>
            </a:pPr>
            <a:r>
              <a:rPr sz="2000" b="1">
                <a:solidFill>
                  <a:srgbClr val="34D399"/>
                </a:solidFill>
              </a:rPr>
              <a:t>Dials  </a:t>
            </a:r>
            <a:r>
              <a:rPr sz="2000">
                <a:solidFill>
                  <a:srgbClr val="F4F4F5"/>
                </a:solidFill>
              </a:rPr>
              <a:t>the airline and navigates the phone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4F4F5"/>
                </a:solidFill>
              </a:defRPr>
            </a:pPr>
            <a:r>
              <a:rPr sz="2000" b="1">
                <a:solidFill>
                  <a:srgbClr val="34D399"/>
                </a:solidFill>
              </a:rPr>
              <a:t>Waits  </a:t>
            </a:r>
            <a:r>
              <a:rPr sz="2000">
                <a:solidFill>
                  <a:srgbClr val="F4F4F5"/>
                </a:solidFill>
              </a:rPr>
              <a:t>on hold while assembling a briefing 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4F4F5"/>
                </a:solidFill>
              </a:defRPr>
            </a:pPr>
            <a:r>
              <a:rPr sz="2000" b="1">
                <a:solidFill>
                  <a:srgbClr val="34D399"/>
                </a:solidFill>
              </a:rPr>
              <a:t>Hands off  </a:t>
            </a:r>
            <a:r>
              <a:rPr sz="2000">
                <a:solidFill>
                  <a:srgbClr val="F4F4F5"/>
                </a:solidFill>
              </a:rPr>
              <a:t>when a human picks up — with exactly what to say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1717A"/>
                </a:solidFill>
              </a:defRPr>
            </a:pPr>
            <a:r>
              <a:t>Built on Butterbase (AI, storage, RAG)  +  Neo4j (email entity graph)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</a:defRPr>
            </a:pPr>
            <a:r>
              <a:t>Everything ugly goes into the box. Out comes a briefed human on the 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